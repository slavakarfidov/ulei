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20231a"/>
                </a:solidFill>
                <a:latin typeface="Rubik"/>
              </a:rPr>
              <a:t>Для перемещения страницы щёлкните мышью</a:t>
            </a: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1687507-06E1-4FD8-882E-4021C39BE2F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Справа настоящий кадр: попадание в слабое место, крит −3.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93EC75-E53F-42A5-8837-247DDE54D94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Кадр из настоящей игры, уровень 2. Мяч бьёт в улей: обычный удар снимает 1 HP, попадание в светлую движущуюся полосу снимает 3 HP. Жуков давят мячом или ракеткой. Жук, который дополз до ближнего края, и потерянный основной мяч отнимают жизнь. Золотой жук даёт дополнительный мяч.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A2C658-E580-459B-8A50-B6AF7FBFD54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Настройки уровней лежат в Assets/Configs/GameConfig.asset: здоровье улья 12, 20, 28, жуки появляются чаще и двигаются быстрее. Жизни в начале каждого уровня снова 3, счёт сохраняется. На третьем кадре два мяча: второй дал золотой жук.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B00B36-6965-4D33-91A9-2004CE0D0E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Состояния игры: Menu, Playing, LevelCompleted, Victory, GameOver. Менять состояние может только GameSession. Рекорд хранится в PlayerPrefs. Кнопки: ДАЛЬШЕ, ЗАНОВО, В МЕНЮ.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2B17DA-C7C3-4333-94AA-336E943D4E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Ракетка, управление и столкновения мяча остались из стартера. Новые классы: Hive, HiveView, BugSwarm, BugViewFactory, ExtraBallReward, LifeController, HudView, MenuView, ResultView, FeedbackPresenter, SfxPlayer и другие. Изменены Ball, BallRoster, GameSession, GameRestarter, GameInstaller. Полный список в ОБЪЯСНЕНИЕ_КОДА.md.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BACDC0-474C-4B05-82A0-CF1C7F2555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Ball шлёт события ударов в BallRoster. BallRoster передаёт удары по стене в Hive и список активных мячей в BugSwarm. Hive, BugSwarm и LifeController меняют счёт и жизни только через GameSession. UI подписан на ReactiveProperty из GameSession и Hive. Подписки снимаются в Dispose.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F33747-D9EF-4785-B94F-4C570E46609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812880" y="1620360"/>
            <a:ext cx="1056600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1056600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515592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26920" y="1620360"/>
            <a:ext cx="515592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812880" y="812880"/>
            <a:ext cx="10566000" cy="23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26920" y="1620360"/>
            <a:ext cx="515592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812880" y="39315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515592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26920" y="16203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26920" y="39315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26920" y="16203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812880" y="3931560"/>
            <a:ext cx="10566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10566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812880" y="3931560"/>
            <a:ext cx="10566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26920" y="16203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812880" y="39315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26920" y="3931560"/>
            <a:ext cx="515592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12880" y="1620360"/>
            <a:ext cx="3402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85520" y="1620360"/>
            <a:ext cx="3402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7957800" y="1620360"/>
            <a:ext cx="3402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812880" y="3931560"/>
            <a:ext cx="3402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85520" y="3931560"/>
            <a:ext cx="3402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7957800" y="3931560"/>
            <a:ext cx="3402000" cy="21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7c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3600" spc="-1" strike="noStrike">
                <a:solidFill>
                  <a:srgbClr val="20231a"/>
                </a:solidFill>
                <a:latin typeface="Rubik"/>
              </a:rPr>
              <a:t>Для правки текста заглавия щёлкните мышью</a:t>
            </a:r>
            <a:endParaRPr b="0" lang="ru-RU" sz="3600" spc="-1" strike="noStrike">
              <a:solidFill>
                <a:srgbClr val="20231a"/>
              </a:solidFill>
              <a:latin typeface="Rubi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12880" y="1620360"/>
            <a:ext cx="10566000" cy="442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20231a"/>
                </a:solidFill>
                <a:latin typeface="Rubik"/>
              </a:rPr>
              <a:t>Для правки структуры щёлкните мышью</a:t>
            </a:r>
            <a:endParaRPr b="0" lang="ru-RU" sz="1600" spc="-1" strike="noStrike">
              <a:solidFill>
                <a:srgbClr val="20231a"/>
              </a:solidFill>
              <a:latin typeface="Rubik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20231a"/>
                </a:solidFill>
                <a:latin typeface="Rubik"/>
              </a:rPr>
              <a:t>Второй уровень структуры</a:t>
            </a:r>
            <a:endParaRPr b="0" lang="ru-RU" sz="1600" spc="-1" strike="noStrike">
              <a:solidFill>
                <a:srgbClr val="20231a"/>
              </a:solidFill>
              <a:latin typeface="Rubik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20231a"/>
                </a:solidFill>
                <a:latin typeface="Rubik"/>
              </a:rPr>
              <a:t>Третий уровень структуры</a:t>
            </a:r>
            <a:endParaRPr b="0" lang="ru-RU" sz="1600" spc="-1" strike="noStrike">
              <a:solidFill>
                <a:srgbClr val="20231a"/>
              </a:solidFill>
              <a:latin typeface="Rubik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20231a"/>
                </a:solidFill>
                <a:latin typeface="Rubik"/>
              </a:rPr>
              <a:t>Четвёртый уровень структуры</a:t>
            </a:r>
            <a:endParaRPr b="0" lang="ru-RU" sz="1600" spc="-1" strike="noStrike">
              <a:solidFill>
                <a:srgbClr val="20231a"/>
              </a:solidFill>
              <a:latin typeface="Rubik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20231a"/>
                </a:solidFill>
                <a:latin typeface="Rubik"/>
              </a:rPr>
              <a:t>Пятый уровень структуры</a:t>
            </a:r>
            <a:endParaRPr b="0" lang="ru-RU" sz="1600" spc="-1" strike="noStrike">
              <a:solidFill>
                <a:srgbClr val="20231a"/>
              </a:solidFill>
              <a:latin typeface="Rubik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20231a"/>
                </a:solidFill>
                <a:latin typeface="Rubik"/>
              </a:rPr>
              <a:t>Шестой уровень структуры</a:t>
            </a:r>
            <a:endParaRPr b="0" lang="ru-RU" sz="1600" spc="-1" strike="noStrike">
              <a:solidFill>
                <a:srgbClr val="20231a"/>
              </a:solidFill>
              <a:latin typeface="Rubik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rgbClr val="20231a"/>
                </a:solidFill>
                <a:latin typeface="Rubik"/>
              </a:rPr>
              <a:t>Седьмой уровень структуры</a:t>
            </a:r>
            <a:endParaRPr b="0" lang="ru-RU" sz="1600" spc="-1" strike="noStrike">
              <a:solidFill>
                <a:srgbClr val="20231a"/>
              </a:solidFill>
              <a:latin typeface="Rubi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7c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Кадр игры: крит по улью, КРИТ! −3"/>
          <p:cNvPicPr/>
          <p:nvPr/>
        </p:nvPicPr>
        <p:blipFill>
          <a:blip r:embed="rId1"/>
          <a:stretch/>
        </p:blipFill>
        <p:spPr>
          <a:xfrm>
            <a:off x="6997680" y="0"/>
            <a:ext cx="4381200" cy="6857640"/>
          </a:xfrm>
          <a:prstGeom prst="rect">
            <a:avLst/>
          </a:prstGeom>
          <a:ln w="0">
            <a:noFill/>
          </a:ln>
        </p:spPr>
      </p:pic>
      <p:sp>
        <p:nvSpPr>
          <p:cNvPr id="45" name="Shape 0"/>
          <p:cNvSpPr/>
          <p:nvPr/>
        </p:nvSpPr>
        <p:spPr>
          <a:xfrm>
            <a:off x="812880" y="2422080"/>
            <a:ext cx="5968800" cy="2013840"/>
          </a:xfrm>
          <a:prstGeom prst="roundRect">
            <a:avLst>
              <a:gd name="adj" fmla="val 5044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68560" y="2828160"/>
            <a:ext cx="541512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546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b52a"/>
                </a:solidFill>
                <a:latin typeface="Arial Black"/>
                <a:ea typeface="Rubik"/>
              </a:rPr>
              <a:t>РАЗБЕЙ УЛЕЙ</a:t>
            </a:r>
            <a:endParaRPr b="0" lang="ru-RU" sz="5200" spc="-1" strike="noStrike">
              <a:solidFill>
                <a:srgbClr val="20231a"/>
              </a:solidFill>
              <a:latin typeface="Arial Black"/>
            </a:endParaRPr>
          </a:p>
        </p:txBody>
      </p:sp>
      <p:sp>
        <p:nvSpPr>
          <p:cNvPr id="47" name="Text 2"/>
          <p:cNvSpPr/>
          <p:nvPr/>
        </p:nvSpPr>
        <p:spPr>
          <a:xfrm>
            <a:off x="1168560" y="3674160"/>
            <a:ext cx="54151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d8d2bc"/>
                </a:solidFill>
                <a:latin typeface="Arial"/>
                <a:ea typeface="Rubik"/>
              </a:rPr>
              <a:t>Пинг-понг против пчелиного улья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7c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Image 0"/>
          <p:cNvSpPr txBox="1"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0"/>
          <p:cNvSpPr/>
          <p:nvPr/>
        </p:nvSpPr>
        <p:spPr>
          <a:xfrm>
            <a:off x="177840" y="609480"/>
            <a:ext cx="1982160" cy="470520"/>
          </a:xfrm>
          <a:prstGeom prst="roundRect">
            <a:avLst>
              <a:gd name="adj" fmla="val 18636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7360" rIns="60840" tIns="66600" bIns="41040" anchor="t">
            <a:normAutofit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b52a"/>
                </a:solidFill>
                <a:latin typeface="Arial"/>
                <a:ea typeface="Rubik"/>
              </a:rPr>
              <a:t>3</a:t>
            </a:r>
            <a:r>
              <a:rPr b="1" lang="en-US" sz="1400" spc="-1" strike="noStrike">
                <a:solidFill>
                  <a:srgbClr val="f3ebd3"/>
                </a:solidFill>
                <a:latin typeface="Arial"/>
                <a:ea typeface="Rubik"/>
              </a:rPr>
              <a:t> </a:t>
            </a:r>
            <a:r>
              <a:rPr b="1" lang="en-US" sz="1400" spc="-1" strike="noStrike">
                <a:solidFill>
                  <a:srgbClr val="ffb52a"/>
                </a:solidFill>
                <a:latin typeface="Arial"/>
                <a:ea typeface="Rubik"/>
              </a:rPr>
              <a:t>жизни</a:t>
            </a:r>
            <a:r>
              <a:rPr b="1" lang="en-US" sz="1400" spc="-1" strike="noStrike">
                <a:solidFill>
                  <a:srgbClr val="f3ebd3"/>
                </a:solidFill>
                <a:latin typeface="Arial"/>
                <a:ea typeface="Rubik"/>
              </a:rPr>
              <a:t> на уровень</a:t>
            </a:r>
            <a:endParaRPr b="1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6832440" y="1193760"/>
            <a:ext cx="659880" cy="25200"/>
          </a:xfrm>
          <a:prstGeom prst="rect">
            <a:avLst/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7493040" y="888840"/>
            <a:ext cx="2539800" cy="639720"/>
          </a:xfrm>
          <a:prstGeom prst="roundRect">
            <a:avLst>
              <a:gd name="adj" fmla="val 11907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7360" rIns="49680" tIns="66600" bIns="41040" anchor="t">
            <a:normAutofit fontScale="87000"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3ebd3"/>
                </a:solidFill>
                <a:latin typeface="Arial"/>
                <a:ea typeface="Rubik"/>
              </a:rPr>
              <a:t>Урон по стене: −1 HP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b52a"/>
                </a:solidFill>
                <a:latin typeface="Arial"/>
                <a:ea typeface="Rubik"/>
              </a:rPr>
              <a:t>Урон в светлую полосу: −3 HP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1333440" y="2400480"/>
            <a:ext cx="3682800" cy="408600"/>
          </a:xfrm>
          <a:prstGeom prst="roundRect">
            <a:avLst>
              <a:gd name="adj" fmla="val 18636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7360" rIns="15120" tIns="66600" bIns="41040" anchor="t">
            <a:normAutofit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3ebd3"/>
                </a:solidFill>
                <a:latin typeface="Arial"/>
                <a:ea typeface="Rubik"/>
              </a:rPr>
              <a:t>Дополз до края стола — минус жизнь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5016600" y="2590920"/>
            <a:ext cx="507600" cy="25200"/>
          </a:xfrm>
          <a:prstGeom prst="rect">
            <a:avLst/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1260000" y="3240000"/>
            <a:ext cx="3473640" cy="720000"/>
          </a:xfrm>
          <a:prstGeom prst="roundRect">
            <a:avLst>
              <a:gd name="adj" fmla="val 18636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7360" rIns="17280" tIns="66600" bIns="41040" anchor="t">
            <a:normAutofit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b52a"/>
                </a:solidFill>
                <a:latin typeface="Arial"/>
                <a:ea typeface="Rubik"/>
              </a:rPr>
              <a:t>Золотой жук</a:t>
            </a:r>
            <a:r>
              <a:rPr b="0" lang="en-US" sz="1400" spc="-1" strike="noStrike">
                <a:solidFill>
                  <a:srgbClr val="f3ebd3"/>
                </a:solidFill>
                <a:latin typeface="Arial"/>
                <a:ea typeface="Rubik"/>
              </a:rPr>
              <a:t> — если убить, добавляет новый мяч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4826160" y="3524400"/>
            <a:ext cx="444240" cy="25200"/>
          </a:xfrm>
          <a:prstGeom prst="rect">
            <a:avLst/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6362640" y="5607000"/>
            <a:ext cx="495000" cy="25200"/>
          </a:xfrm>
          <a:prstGeom prst="rect">
            <a:avLst/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6858000" y="5302080"/>
            <a:ext cx="3174480" cy="639720"/>
          </a:xfrm>
          <a:prstGeom prst="roundRect">
            <a:avLst>
              <a:gd name="adj" fmla="val 11907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7360" rIns="30600" tIns="66600" bIns="41040" anchor="t">
            <a:normAutofit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3ebd3"/>
                </a:solidFill>
                <a:latin typeface="Arial"/>
                <a:ea typeface="Rubik"/>
              </a:rPr>
              <a:t>Зажав ЛКМ – бей по мячу, чтобы отбить, бей по жукам, чтобы убить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5460840"/>
            <a:ext cx="457812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483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20231a"/>
                </a:solidFill>
                <a:latin typeface="Arial Black"/>
                <a:ea typeface="Rubik"/>
              </a:rPr>
              <a:t>Кор-луп</a:t>
            </a:r>
            <a:endParaRPr b="0" lang="ru-RU" sz="4400" spc="-1" strike="noStrike">
              <a:solidFill>
                <a:srgbClr val="20231a"/>
              </a:solidFill>
              <a:latin typeface="Arial Black"/>
            </a:endParaRPr>
          </a:p>
        </p:txBody>
      </p:sp>
      <p:sp>
        <p:nvSpPr>
          <p:cNvPr id="59" name="Shape 2"/>
          <p:cNvSpPr/>
          <p:nvPr/>
        </p:nvSpPr>
        <p:spPr>
          <a:xfrm rot="3960000">
            <a:off x="4575240" y="2912040"/>
            <a:ext cx="1119960" cy="25200"/>
          </a:xfrm>
          <a:prstGeom prst="rect">
            <a:avLst/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396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b52a"/>
                </a:solidFill>
                <a:latin typeface="Arial Black"/>
                <a:ea typeface="Rubik"/>
              </a:rPr>
              <a:t>Три уровня - улья</a:t>
            </a:r>
            <a:endParaRPr b="0" lang="ru-RU" sz="3600" spc="-1" strike="noStrike">
              <a:solidFill>
                <a:srgbClr val="20231a"/>
              </a:solidFill>
              <a:latin typeface="Arial Black"/>
            </a:endParaRPr>
          </a:p>
        </p:txBody>
      </p:sp>
      <p:sp>
        <p:nvSpPr>
          <p:cNvPr id="61" name="Text 1"/>
          <p:cNvSpPr/>
          <p:nvPr/>
        </p:nvSpPr>
        <p:spPr>
          <a:xfrm>
            <a:off x="812880" y="1518840"/>
            <a:ext cx="10883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d8d2bc"/>
                </a:solidFill>
                <a:latin typeface="Arial"/>
                <a:ea typeface="Rubik"/>
              </a:rPr>
              <a:t>Каждый следующий улей крепче, жуки ползут чаще и быстрее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Image 0"/>
          <p:cNvSpPr/>
          <p:nvPr/>
        </p:nvSpPr>
        <p:spPr>
          <a:xfrm>
            <a:off x="2070000" y="2006640"/>
            <a:ext cx="2412720" cy="3498480"/>
          </a:xfrm>
          <a:prstGeom prst="roundRect">
            <a:avLst>
              <a:gd name="adj" fmla="val 315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2274120" y="5607000"/>
            <a:ext cx="20048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52a"/>
                </a:solidFill>
                <a:latin typeface="Arial"/>
                <a:ea typeface="Rubik"/>
              </a:rPr>
              <a:t>12 HP</a:t>
            </a:r>
            <a:r>
              <a:rPr b="0" lang="en-US" sz="1600" spc="-1" strike="noStrike">
                <a:solidFill>
                  <a:srgbClr val="f3ebd3"/>
                </a:solidFill>
                <a:latin typeface="Arial"/>
                <a:ea typeface="Rubik"/>
              </a:rPr>
              <a:t> | 1 уровень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Image 1"/>
          <p:cNvSpPr/>
          <p:nvPr/>
        </p:nvSpPr>
        <p:spPr>
          <a:xfrm>
            <a:off x="4889520" y="2006640"/>
            <a:ext cx="2412720" cy="3498480"/>
          </a:xfrm>
          <a:prstGeom prst="roundRect">
            <a:avLst>
              <a:gd name="adj" fmla="val 3158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051880" y="5607000"/>
            <a:ext cx="2088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52a"/>
                </a:solidFill>
                <a:latin typeface="Arial"/>
                <a:ea typeface="Rubik"/>
              </a:rPr>
              <a:t>20 HP</a:t>
            </a:r>
            <a:r>
              <a:rPr b="0" lang="en-US" sz="1600" spc="-1" strike="noStrike">
                <a:solidFill>
                  <a:srgbClr val="f3ebd3"/>
                </a:solidFill>
                <a:latin typeface="Arial"/>
                <a:ea typeface="Rubik"/>
              </a:rPr>
              <a:t> | 2 уровень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Image 2"/>
          <p:cNvSpPr/>
          <p:nvPr/>
        </p:nvSpPr>
        <p:spPr>
          <a:xfrm>
            <a:off x="7709040" y="2006640"/>
            <a:ext cx="2412720" cy="3498480"/>
          </a:xfrm>
          <a:prstGeom prst="roundRect">
            <a:avLst>
              <a:gd name="adj" fmla="val 3158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7869600" y="5607000"/>
            <a:ext cx="2090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52a"/>
                </a:solidFill>
                <a:latin typeface="Arial"/>
                <a:ea typeface="Rubik"/>
              </a:rPr>
              <a:t>28 HP</a:t>
            </a:r>
            <a:r>
              <a:rPr b="0" lang="en-US" sz="1600" spc="-1" strike="noStrike">
                <a:solidFill>
                  <a:srgbClr val="f3ebd3"/>
                </a:solidFill>
                <a:latin typeface="Arial"/>
                <a:ea typeface="Rubik"/>
              </a:rPr>
              <a:t> | 3 уровень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7c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396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0231a"/>
                </a:solidFill>
                <a:latin typeface="Arial Black"/>
                <a:ea typeface="Rubik"/>
              </a:rPr>
              <a:t>Прохождение уровня</a:t>
            </a:r>
            <a:endParaRPr b="0" lang="ru-RU" sz="3600" spc="-1" strike="noStrike">
              <a:solidFill>
                <a:srgbClr val="20231a"/>
              </a:solidFill>
              <a:latin typeface="Arial Black"/>
            </a:endParaRPr>
          </a:p>
        </p:txBody>
      </p:sp>
      <p:sp>
        <p:nvSpPr>
          <p:cNvPr id="69" name="Image 0"/>
          <p:cNvSpPr/>
          <p:nvPr/>
        </p:nvSpPr>
        <p:spPr>
          <a:xfrm>
            <a:off x="812880" y="1773000"/>
            <a:ext cx="3250800" cy="2342880"/>
          </a:xfrm>
          <a:prstGeom prst="roundRect">
            <a:avLst>
              <a:gd name="adj" fmla="val 3252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812880" y="4352040"/>
            <a:ext cx="3147120" cy="10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0231a"/>
                </a:solidFill>
                <a:latin typeface="Arial"/>
                <a:ea typeface="Rubik"/>
              </a:rPr>
              <a:t>Бонус за каждую оставшуюся жизнь, дальше следующий улей</a:t>
            </a: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Image 1"/>
          <p:cNvSpPr/>
          <p:nvPr/>
        </p:nvSpPr>
        <p:spPr>
          <a:xfrm>
            <a:off x="4470480" y="1773000"/>
            <a:ext cx="3250800" cy="2342880"/>
          </a:xfrm>
          <a:prstGeom prst="roundRect">
            <a:avLst>
              <a:gd name="adj" fmla="val 3252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4470480" y="4268520"/>
            <a:ext cx="326952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0231a"/>
                </a:solidFill>
                <a:latin typeface="Arial"/>
                <a:ea typeface="Rubik"/>
              </a:rPr>
              <a:t>Три улья разбиты, рекорд сохраняется</a:t>
            </a: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Image 2"/>
          <p:cNvSpPr/>
          <p:nvPr/>
        </p:nvSpPr>
        <p:spPr>
          <a:xfrm>
            <a:off x="8128080" y="1773000"/>
            <a:ext cx="3250800" cy="2342880"/>
          </a:xfrm>
          <a:prstGeom prst="roundRect">
            <a:avLst>
              <a:gd name="adj" fmla="val 3252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8128080" y="4268520"/>
            <a:ext cx="321192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82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0231a"/>
                </a:solidFill>
                <a:latin typeface="Arial"/>
                <a:ea typeface="Rubik"/>
              </a:rPr>
              <a:t>Жизни кончились - потерян основной мяч или пропущен жук</a:t>
            </a: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396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b52a"/>
                </a:solidFill>
                <a:latin typeface="Arial Black"/>
                <a:ea typeface="Rubik"/>
              </a:rPr>
              <a:t>Что добавлено к Pong Wall</a:t>
            </a:r>
            <a:endParaRPr b="0" lang="ru-RU" sz="3600" spc="-1" strike="noStrike">
              <a:solidFill>
                <a:srgbClr val="20231a"/>
              </a:solidFill>
              <a:latin typeface="Arial Black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822240" y="1680840"/>
            <a:ext cx="3028680" cy="2637360"/>
          </a:xfrm>
          <a:prstGeom prst="roundRect">
            <a:avLst>
              <a:gd name="adj" fmla="val 3491"/>
            </a:avLst>
          </a:prstGeom>
          <a:noFill/>
          <a:ln w="19050">
            <a:solidFill>
              <a:srgbClr val="4a4d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1085760" y="1944360"/>
            <a:ext cx="25765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a9a48f"/>
                </a:solidFill>
                <a:latin typeface="Arial"/>
                <a:ea typeface="Rubik"/>
              </a:rPr>
              <a:t>Было изначально: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1141920" y="2340360"/>
            <a:ext cx="251280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8000" indent="-198000">
              <a:lnSpc>
                <a:spcPts val="2701"/>
              </a:lnSpc>
              <a:buClr>
                <a:srgbClr val="d8d2b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d8d2bc"/>
                </a:solidFill>
                <a:latin typeface="Arial"/>
                <a:ea typeface="Rubik"/>
              </a:rPr>
              <a:t>Ракетка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marL="198000" indent="-198000">
              <a:lnSpc>
                <a:spcPts val="2701"/>
              </a:lnSpc>
              <a:buClr>
                <a:srgbClr val="d8d2b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d8d2bc"/>
                </a:solidFill>
                <a:latin typeface="Arial"/>
                <a:ea typeface="Rubik"/>
              </a:rPr>
              <a:t>Мяч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marL="198000" indent="-198000">
              <a:lnSpc>
                <a:spcPts val="2701"/>
              </a:lnSpc>
              <a:buClr>
                <a:srgbClr val="d8d2b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d8d2bc"/>
                </a:solidFill>
                <a:latin typeface="Arial"/>
                <a:ea typeface="Rubik"/>
              </a:rPr>
              <a:t>Стена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marL="198000" indent="-198000">
              <a:lnSpc>
                <a:spcPts val="2701"/>
              </a:lnSpc>
              <a:buClr>
                <a:srgbClr val="d8d2b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d8d2bc"/>
                </a:solidFill>
                <a:latin typeface="Arial"/>
                <a:ea typeface="Rubik"/>
              </a:rPr>
              <a:t>Счёт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4175280" y="1680840"/>
            <a:ext cx="7194240" cy="2637360"/>
          </a:xfrm>
          <a:prstGeom prst="roundRect">
            <a:avLst>
              <a:gd name="adj" fmla="val 3491"/>
            </a:avLst>
          </a:prstGeom>
          <a:noFill/>
          <a:ln w="19050">
            <a:solidFill>
              <a:srgbClr val="c873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4438800" y="1944360"/>
            <a:ext cx="68670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52a"/>
                </a:solidFill>
                <a:latin typeface="Arial"/>
                <a:ea typeface="Rubik"/>
              </a:rPr>
              <a:t>Добавка: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494960" y="2340360"/>
            <a:ext cx="6803280" cy="17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8000" indent="-198000">
              <a:lnSpc>
                <a:spcPts val="2701"/>
              </a:lnSpc>
              <a:buClr>
                <a:srgbClr val="f3ebd3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3ebd3"/>
                </a:solidFill>
                <a:latin typeface="Arial"/>
                <a:ea typeface="Rubik"/>
              </a:rPr>
              <a:t>Стена с Хп и крит областью, нанесение урона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marL="198000" indent="-198000">
              <a:lnSpc>
                <a:spcPts val="2701"/>
              </a:lnSpc>
              <a:buClr>
                <a:srgbClr val="f3ebd3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3ebd3"/>
                </a:solidFill>
                <a:latin typeface="Arial"/>
                <a:ea typeface="Rubik"/>
              </a:rPr>
              <a:t>Враги жуки, и доп мяч за убийство золотого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marL="198000" indent="-198000">
              <a:lnSpc>
                <a:spcPts val="2701"/>
              </a:lnSpc>
              <a:buClr>
                <a:srgbClr val="f3ebd3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3ebd3"/>
                </a:solidFill>
                <a:latin typeface="Arial"/>
                <a:ea typeface="Rubik"/>
              </a:rPr>
              <a:t>3 уровня, 3 жизни, бонус за жизни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marL="198000" indent="-198000">
              <a:lnSpc>
                <a:spcPts val="2701"/>
              </a:lnSpc>
              <a:buClr>
                <a:srgbClr val="f3ebd3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3ebd3"/>
                </a:solidFill>
                <a:latin typeface="Arial"/>
                <a:ea typeface="Rubik"/>
              </a:rPr>
              <a:t>Менюшка, экраны итога, рекорды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marL="198000" indent="-198000">
              <a:lnSpc>
                <a:spcPts val="2701"/>
              </a:lnSpc>
              <a:buClr>
                <a:srgbClr val="f3ebd3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3ebd3"/>
                </a:solidFill>
                <a:latin typeface="Arial"/>
                <a:ea typeface="Rubik"/>
              </a:rPr>
              <a:t>Звуки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7c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ts val="396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0231a"/>
                </a:solidFill>
                <a:latin typeface="Arial Black"/>
                <a:ea typeface="Rubik"/>
              </a:rPr>
              <a:t>Как устроен код</a:t>
            </a:r>
            <a:endParaRPr b="0" lang="ru-RU" sz="3600" spc="-1" strike="noStrike">
              <a:solidFill>
                <a:srgbClr val="20231a"/>
              </a:solidFill>
              <a:latin typeface="Arial Black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540000" y="3143880"/>
            <a:ext cx="1868760" cy="1101240"/>
          </a:xfrm>
          <a:prstGeom prst="roundRect">
            <a:avLst>
              <a:gd name="adj" fmla="val 7834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712440" y="3287880"/>
            <a:ext cx="158148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52a"/>
                </a:solidFill>
                <a:latin typeface="Arial"/>
                <a:ea typeface="Rubik"/>
              </a:rPr>
              <a:t>BallRoster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712440" y="3618360"/>
            <a:ext cx="1581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8d2bc"/>
                </a:solidFill>
                <a:latin typeface="Arial"/>
                <a:ea typeface="Rubik"/>
              </a:rPr>
              <a:t>Удары и потери всех мячей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2524320" y="3453480"/>
            <a:ext cx="35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3359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0231a"/>
                </a:solidFill>
                <a:latin typeface="Arial"/>
                <a:ea typeface="Rubik"/>
              </a:rPr>
              <a:t>→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2937240" y="2169000"/>
            <a:ext cx="2300040" cy="859680"/>
          </a:xfrm>
          <a:prstGeom prst="roundRect">
            <a:avLst>
              <a:gd name="adj" fmla="val 10034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3109680" y="2313000"/>
            <a:ext cx="20138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52a"/>
                </a:solidFill>
                <a:latin typeface="Arial"/>
                <a:ea typeface="Rubik"/>
              </a:rPr>
              <a:t>Hive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3109680" y="2643840"/>
            <a:ext cx="20138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8d2bc"/>
                </a:solidFill>
                <a:latin typeface="Arial"/>
                <a:ea typeface="Rubik"/>
              </a:rPr>
              <a:t>Урон, слабое место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2937240" y="3143880"/>
            <a:ext cx="2300040" cy="1101240"/>
          </a:xfrm>
          <a:prstGeom prst="roundRect">
            <a:avLst>
              <a:gd name="adj" fmla="val 7834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3109680" y="3287880"/>
            <a:ext cx="20138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52a"/>
                </a:solidFill>
                <a:latin typeface="Arial"/>
                <a:ea typeface="Rubik"/>
              </a:rPr>
              <a:t>BugSwarm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3109680" y="3618360"/>
            <a:ext cx="2013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8d2bc"/>
                </a:solidFill>
                <a:latin typeface="Arial"/>
                <a:ea typeface="Rubik"/>
              </a:rPr>
              <a:t>Жуки, раздавлен или сбежал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2937240" y="4360320"/>
            <a:ext cx="2300040" cy="859680"/>
          </a:xfrm>
          <a:prstGeom prst="roundRect">
            <a:avLst>
              <a:gd name="adj" fmla="val 10034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3109680" y="4504320"/>
            <a:ext cx="20138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52a"/>
                </a:solidFill>
                <a:latin typeface="Arial"/>
                <a:ea typeface="Rubik"/>
              </a:rPr>
              <a:t>LifeController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3109680" y="4835160"/>
            <a:ext cx="20138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8d2bc"/>
                </a:solidFill>
                <a:latin typeface="Arial"/>
                <a:ea typeface="Rubik"/>
              </a:rPr>
              <a:t>Потерян основной мяч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5353200" y="3453480"/>
            <a:ext cx="35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3359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0231a"/>
                </a:solidFill>
                <a:latin typeface="Arial"/>
                <a:ea typeface="Rubik"/>
              </a:rPr>
              <a:t>→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5760000" y="3143880"/>
            <a:ext cx="2156400" cy="1101240"/>
          </a:xfrm>
          <a:prstGeom prst="roundRect">
            <a:avLst>
              <a:gd name="adj" fmla="val 7834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5938560" y="3287880"/>
            <a:ext cx="18687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52a"/>
                </a:solidFill>
                <a:latin typeface="Arial"/>
                <a:ea typeface="Rubik"/>
              </a:rPr>
              <a:t>GameSession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5940000" y="3618360"/>
            <a:ext cx="1800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8d2bc"/>
                </a:solidFill>
                <a:latin typeface="Arial"/>
                <a:ea typeface="Rubik"/>
              </a:rPr>
              <a:t>Счёт, жизни, уровень, состояние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8037720" y="3453480"/>
            <a:ext cx="35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3359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0231a"/>
                </a:solidFill>
                <a:latin typeface="Arial"/>
                <a:ea typeface="Rubik"/>
              </a:rPr>
              <a:t>→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9"/>
          <p:cNvSpPr/>
          <p:nvPr/>
        </p:nvSpPr>
        <p:spPr>
          <a:xfrm>
            <a:off x="8450640" y="3143880"/>
            <a:ext cx="2875680" cy="1101240"/>
          </a:xfrm>
          <a:prstGeom prst="roundRect">
            <a:avLst>
              <a:gd name="adj" fmla="val 7834"/>
            </a:avLst>
          </a:prstGeom>
          <a:solidFill>
            <a:srgbClr val="202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8623440" y="3287880"/>
            <a:ext cx="260640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52a"/>
                </a:solidFill>
                <a:latin typeface="Arial"/>
                <a:ea typeface="Rubik"/>
              </a:rPr>
              <a:t>HudView, ResultView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8623440" y="3618360"/>
            <a:ext cx="26064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8d2bc"/>
                </a:solidFill>
                <a:latin typeface="Arial"/>
                <a:ea typeface="Rubik"/>
              </a:rPr>
              <a:t>Отображают данные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812880" y="4823280"/>
            <a:ext cx="10883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239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Разбей улей — Hive Breaker">
  <a:themeElements>
    <a:clrScheme name="Разбей улей — Hive Breaker">
      <a:dk1>
        <a:srgbClr val="20231a"/>
      </a:dk1>
      <a:lt1>
        <a:srgbClr val="a7c957"/>
      </a:lt1>
      <a:dk2>
        <a:srgbClr val="424d29"/>
      </a:dk2>
      <a:lt2>
        <a:srgbClr val="9ab851"/>
      </a:lt2>
      <a:accent1>
        <a:srgbClr val="ffb52a"/>
      </a:accent1>
      <a:accent2>
        <a:srgbClr val="d8d2bc"/>
      </a:accent2>
      <a:accent3>
        <a:srgbClr val="f3ebd3"/>
      </a:accent3>
      <a:accent4>
        <a:srgbClr val="a9a48f"/>
      </a:accent4>
      <a:accent5>
        <a:srgbClr val="9aa0a6"/>
      </a:accent5>
      <a:accent6>
        <a:srgbClr val="56653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d29"/>
      </a:dk2>
      <a:lt2>
        <a:srgbClr val="9ab851"/>
      </a:lt2>
      <a:accent1>
        <a:srgbClr val="ffb52a"/>
      </a:accent1>
      <a:accent2>
        <a:srgbClr val="d8d2bc"/>
      </a:accent2>
      <a:accent3>
        <a:srgbClr val="f3ebd3"/>
      </a:accent3>
      <a:accent4>
        <a:srgbClr val="a9a48f"/>
      </a:accent4>
      <a:accent5>
        <a:srgbClr val="9aa0a6"/>
      </a:accent5>
      <a:accent6>
        <a:srgbClr val="56653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LibreOffice/7.5.1.2$Windows_X86_64 LibreOffice_project/fcbaee479e84c6cd81291587d2ee68cba099e129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2026-10-19T16:49:15Z</dcterms:created>
  <dc:creator/>
  <dc:description/>
  <dc:language>ru-RU</dc:language>
  <cp:lastModifiedBy/>
  <dcterms:modified xsi:type="dcterms:W3CDTF">2026-10-19T22:23:15Z</dcterms:modified>
  <cp:revision>3</cp:revision>
  <dc:subject/>
  <dc:title>Разбей улей — Hive Breaker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